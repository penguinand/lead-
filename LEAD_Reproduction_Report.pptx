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6" r:id="rId17"/>
    <p:sldId id="267" r:id="rId18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LEAD 论文复现报告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0E0EF"/>
                </a:solidFill>
              </a:defRPr>
            </a:pPr>
            <a:r>
              <a:t>Learning Decomposition for Source-free Universal Domain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CVPR 2024  |  PyTorch 复现 + 计图 (Jittor) 框架移植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4846320"/>
            <a:ext cx="4846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Qu et al., Tongji University / TUM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方法概述 — LEAD 算法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265176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4D8"/>
                </a:solidFill>
              </a:defRPr>
            </a:pPr>
            <a:r>
              <a:t>🔬 正交分解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2286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对源分类器权重做 SVD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分离已知/未知子空间基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特征投影 → 判别私有数据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7560" y="1371600"/>
            <a:ext cx="265176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40" y="1554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4D8"/>
                </a:solidFill>
              </a:defRPr>
            </a:pPr>
            <a:r>
              <a:t>📊 C_t 估计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286000"/>
            <a:ext cx="2286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t-SNE 降维 + KMeans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遍历不同系数选最优 k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轮廓系数评价聚类质量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265176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54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4D8"/>
                </a:solidFill>
              </a:defRPr>
            </a:pPr>
            <a:r>
              <a:t>🎯 实例级边界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2286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源锚点 + 目标原型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融合相似度 → common score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自适应阈值判定私有样本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1371600"/>
            <a:ext cx="265176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1160" y="1554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B4D8"/>
                </a:solidFill>
              </a:defRPr>
            </a:pPr>
            <a:r>
              <a:t>📐 三大损失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81160" y="2286000"/>
            <a:ext cx="2286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L_ce: 伪标签交叉熵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L_reg: 子空间投影正则</a:t>
            </a:r>
          </a:p>
          <a:p>
            <a:pPr>
              <a:spcAft>
                <a:spcPts val="600"/>
              </a:spcAft>
              <a:defRPr sz="1400">
                <a:solidFill>
                  <a:srgbClr val="CCCCCC"/>
                </a:solidFill>
              </a:defRPr>
            </a:pPr>
            <a:r>
              <a:t>L_con: KNN一致性约束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D166"/>
                </a:solidFill>
              </a:defRPr>
            </a:pPr>
            <a:r>
              <a:t>两阶段流程：① 源域模型训练（有标签）→ ② 目标域自适应（无源数据，仅目标数据）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复现总览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280160"/>
          <a:ext cx="86868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1097280"/>
                <a:gridCol w="1097280"/>
                <a:gridCol w="1280160"/>
                <a:gridCol w="914400"/>
                <a:gridCol w="1097280"/>
                <a:gridCol w="914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场景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数据集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论文(%)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PyTorch(%)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完成度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计图(%)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完成度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OPDA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87.8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85.1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6/6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56.1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2/6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OPDA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OfficeHome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75.0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74.0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10/12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OPDA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VisDA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76.6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73.5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1/1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OSDA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90.3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90.0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6/6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OSDA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OfficeHome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67.2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OSDA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VisDA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74.2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PDA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KnownAcc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95.5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95.1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6/6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PDA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OfficeHome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KnownAcc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73.8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0/12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PDA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VisDA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KnownAcc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75.3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0/1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49377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6D6A0"/>
                </a:solidFill>
              </a:defRPr>
            </a:pPr>
            <a:r>
              <a:t>✅ Office-31 三场景 PyTorch 复现成功（OSDA: -0.3%, PDA: -0.4%）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49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6D6A0"/>
                </a:solidFill>
              </a:defRPr>
            </a:pPr>
            <a:r>
              <a:t>✅ OfficeHome OPDA 已完成10/12对, 平均接近论文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7607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D166"/>
                </a:solidFill>
              </a:defRPr>
            </a:pPr>
            <a:r>
              <a:t>⏳ 计图版本训练中，目前完成 Office-31 OPDA 2/6对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Office-31 — OPDA (H-score 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28016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280160"/>
                <a:gridCol w="914400"/>
                <a:gridCol w="1097280"/>
                <a:gridCol w="914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方向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计图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A2D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85.4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78.2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-7.2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62.4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-23.0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85.0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78.5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-6.5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49.9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-35.1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86.3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85.7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-0.6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90.9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91.5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+0.6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86.2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85.3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-0.9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W2D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93.1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91.5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-1.6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Avg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87.8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85.1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-2.7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56.1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-31.7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371600" y="4754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PyTorch平均 85.1% vs 论文 87.8%，差距 -2.7%</a:t>
            </a:r>
            <a:br/>
            <a:r>
              <a:t>主要差距在 A→D/A→W 方向，可能受MPS后端和随机种子影响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Office-31 — OSDA (H-score 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28016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6459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方向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A2D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84.9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86.2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+1.3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85.1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87.5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+2.4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90.2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86.9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-3.3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94.8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93.7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-1.1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90.3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88.8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-1.5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W2D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96.5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97.1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+0.6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Avg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90.3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90.0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-0.3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286000" y="4572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6D6A0"/>
                </a:solidFill>
              </a:defRPr>
            </a:pPr>
            <a:r>
              <a:t>✅ 平均 90.0% vs 论文 90.3%，差距仅 -0.3%，基本完全复现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Office-31 — PDA (KnownAcc 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280160"/>
          <a:ext cx="54864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6459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方向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A2D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89.8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87.9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-1.9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A2W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93.9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93.9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-0.0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95.6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94.9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-0.7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D2W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98.6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98.6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+0.0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W2A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96.0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96.0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+0.0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W2D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99.4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99.4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+0.0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Avg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95.5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95.1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-0.4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286000" y="4572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06D6A0"/>
                </a:solidFill>
              </a:defRPr>
            </a:pPr>
            <a:r>
              <a:t>✅ 平均 95.1% vs 论文 95.5%，差距仅 -0.4%，基本完全复现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Office-Home — OPDA (H-score 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286000" y="1188720"/>
          <a:ext cx="54864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64592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方向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Ar2Cl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62.7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57.3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-5.4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Ar2Pr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78.1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77.8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-0.3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Ar2Rw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86.4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85.9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-0.5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Cl2Ar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70.6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73.3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+2.7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Cl2Pr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76.3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72.0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-4.3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Cl2Rw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83.4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83.7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+0.3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Pr2Ar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75.3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70.5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-4.8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Pr2Cl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60.6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59.6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-1.0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Pr2Rw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86.2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86.3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+0.1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Rw2Ar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75.4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74.0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-1.4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Rw2Cl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60.7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进行中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Rw2Pr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83.7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进行中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Avg(10/12)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75.0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74.0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-0.9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286000" y="5943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D166"/>
                </a:solidFill>
              </a:defRPr>
            </a:pPr>
            <a:r>
              <a:t>已完成10/12对，平均 74.0% vs 论文 75.0%（Rw→Cl, Rw→Pr 尚在进行中）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VisDA — OPDA (H-score %)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1645920"/>
            <a:ext cx="6675120" cy="32004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0" y="182880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B4D8"/>
                </a:solidFill>
              </a:defRPr>
            </a:pPr>
            <a:r>
              <a:t>train → validation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0" y="2743200"/>
          <a:ext cx="47548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97280"/>
                <a:gridCol w="1371600"/>
                <a:gridCol w="91440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H-score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76.6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73.5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-3.1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KnownAcc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  <a:r>
                        <a:t>63.2</a:t>
                      </a: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30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UnknownAcc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87.8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0" y="502920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</a:defRPr>
            </a:pPr>
            <a:r>
              <a:t>H-score 73.5% vs 论文 76.6%，差距 -3.1%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计图 (Jittor) 框架复现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502920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554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</a:defRPr>
            </a:pPr>
            <a:r>
              <a:t>Office-31 OPDA — 已完成实验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188720" y="2286000"/>
          <a:ext cx="438912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31520"/>
                <a:gridCol w="822960"/>
                <a:gridCol w="914400"/>
                <a:gridCol w="1188720"/>
              </a:tblGrid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方向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论文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计图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PyTorch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Δ(计图-论文)</a:t>
                      </a:r>
                    </a:p>
                  </a:txBody>
                  <a:tcPr anchor="ctr">
                    <a:solidFill>
                      <a:srgbClr val="0077B6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A2D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85.4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62.4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78.2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</a:defRPr>
                      </a:pPr>
                      <a:r>
                        <a:t>-23.0</a:t>
                      </a:r>
                    </a:p>
                  </a:txBody>
                  <a:tcPr anchor="ctr">
                    <a:solidFill>
                      <a:srgbClr val="25254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A2W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85.0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49.9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78.5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-35.1</a:t>
                      </a:r>
                    </a:p>
                  </a:txBody>
                  <a:tcPr anchor="ctr">
                    <a:solidFill>
                      <a:srgbClr val="0096C7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371600"/>
            <a:ext cx="5029200" cy="411480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5544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</a:defRPr>
            </a:pPr>
            <a:r>
              <a:t>分析与展望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2860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⏳ D→A 训练进行中 (Epoch 1)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📉 已完成结果偏低 (62.4%, 49.9%)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FFD166"/>
                </a:solidFill>
              </a:defRPr>
            </a:pPr>
            <a:r>
              <a:t>🔍 可能原因: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Jittor / PyTorch 底层算子差异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BN层、weight_norm 行为不同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MPS后端兼容性限制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随机数生成器差异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FFD166"/>
                </a:solidFill>
              </a:defRPr>
            </a:pPr>
            <a:r>
              <a:t>📋 后续计划: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完成全部 Office-31 OPDA 实验</a:t>
            </a:r>
          </a:p>
          <a:p>
            <a:pPr>
              <a:spcAft>
                <a:spcPts val="200"/>
              </a:spcAft>
              <a:defRPr sz="1300">
                <a:solidFill>
                  <a:srgbClr val="CCCCCC"/>
                </a:solidFill>
              </a:defRPr>
            </a:pPr>
            <a:r>
              <a:t>• 在 CUDA 环境下重新训练对比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</a:defRPr>
            </a:pPr>
            <a:r>
              <a:t>总结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6D6A0"/>
                </a:solidFill>
              </a:defRPr>
            </a:pPr>
            <a:r>
              <a:t>✅ PyTorch 复现成功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Office-31 OPDA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68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85.1% vs 87.8%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46888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D6A0"/>
                </a:solidFill>
              </a:defRPr>
            </a:pPr>
            <a:r>
              <a:t>-2.7%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Office-31 OSDA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90.0% vs 90.3%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0896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D6A0"/>
                </a:solidFill>
              </a:defRPr>
            </a:pPr>
            <a:r>
              <a:t>-0.3%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Office-31 PDA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49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95.1% vs 95.5%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7490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D6A0"/>
                </a:solidFill>
              </a:defRPr>
            </a:pPr>
            <a:r>
              <a:t>-0.4%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OfficeHome OPDA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74.1% vs 75.0%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891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D6A0"/>
                </a:solidFill>
              </a:defRPr>
            </a:pPr>
            <a:r>
              <a:t>~-0.9%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7548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VisDA OPDA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029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73.5% vs 76.6%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02920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06D6A0"/>
                </a:solidFill>
              </a:defRPr>
            </a:pPr>
            <a:r>
              <a:t>-3.1%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128016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1463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166"/>
                </a:solidFill>
              </a:defRPr>
            </a:pPr>
            <a:r>
              <a:t>⏳ 计图复现进行中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21945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</a:defRPr>
            </a:pPr>
            <a:r>
              <a:t>Office-31 OPDA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24688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完成 2/6 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8346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结果偏低待分析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200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需 CUDA 环境验证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128016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2A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146304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B4D8"/>
                </a:solidFill>
              </a:defRPr>
            </a:pPr>
            <a:r>
              <a:t>💡 关键发现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21945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OSDA/PDA 高度复现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25603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OPDA 受随机性影响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29260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MPS设备轻微精度差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2918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LEAD算法有效验证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计图编译器适配 — macOS ARM 修复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89B4FA"/>
                </a:solidFill>
              </a:defRPr>
            </a:pPr>
            <a:r>
              <a:t>Jittor v1.3.10 compiler.py 底层编译代码修改（新增27行）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F9E2AF"/>
                </a:solidFill>
              </a:defRPr>
            </a:pPr>
            <a:r>
              <a:t>❌ 问题：macOS clang 编译 Jittor JIT 核心失败</a:t>
            </a:r>
          </a:p>
          <a:p>
            <a:pPr>
              <a:spcAft>
                <a:spcPts val="300"/>
              </a:spcAft>
              <a:defRPr sz="400" b="0">
                <a:solidFill>
                  <a:srgbClr val="BAC2DE"/>
                </a:solidFill>
              </a:defRPr>
            </a:pPr>
          </a:p>
          <a:p>
            <a:pPr>
              <a:spcAft>
                <a:spcPts val="300"/>
              </a:spcAft>
              <a:defRPr sz="1300" b="0">
                <a:solidFill>
                  <a:srgbClr val="BAC2DE"/>
                </a:solidFill>
              </a:defRPr>
            </a:pPr>
            <a:r>
              <a:t>Jittor 编译 data.cc（算子注册表）时，使用了成员函数指针(PMF)强转：</a:t>
            </a:r>
          </a:p>
          <a:p>
            <a:pPr>
              <a:spcAft>
                <a:spcPts val="300"/>
              </a:spcAft>
              <a:defRPr sz="1300" b="0">
                <a:solidFill>
                  <a:srgbClr val="F38BA8"/>
                </a:solidFill>
              </a:defRPr>
            </a:pPr>
            <a:r>
              <a:t>  (void(*)(Node*)) &amp;Node::forward</a:t>
            </a:r>
          </a:p>
          <a:p>
            <a:pPr>
              <a:spcAft>
                <a:spcPts val="300"/>
              </a:spcAft>
              <a:defRPr sz="1300" b="0">
                <a:solidFill>
                  <a:srgbClr val="BAC2DE"/>
                </a:solidFill>
              </a:defRPr>
            </a:pPr>
            <a:r>
              <a:t>macOS ARM64 clang 严格遵循 C++ 标准，禁止 PMF→普通函数指针转换</a:t>
            </a:r>
          </a:p>
          <a:p>
            <a:pPr>
              <a:spcAft>
                <a:spcPts val="300"/>
              </a:spcAft>
              <a:defRPr sz="1300" b="0">
                <a:solidFill>
                  <a:srgbClr val="F38BA8"/>
                </a:solidFill>
              </a:defRPr>
            </a:pPr>
            <a:r>
              <a:t>→ 编译直接报错，Jittor 无法在 Mac 上启动运行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A6E3A1"/>
                </a:solidFill>
              </a:defRPr>
            </a:pPr>
            <a:r>
              <a:t>✅ 解决方案：预处理 + 正则替换 + union 安全转换</a:t>
            </a:r>
          </a:p>
          <a:p>
            <a:pPr>
              <a:spcAft>
                <a:spcPts val="300"/>
              </a:spcAft>
              <a:defRPr sz="400" b="0">
                <a:solidFill>
                  <a:srgbClr val="BAC2DE"/>
                </a:solidFill>
              </a:defRPr>
            </a:pPr>
          </a:p>
          <a:p>
            <a:pPr>
              <a:spcAft>
                <a:spcPts val="300"/>
              </a:spcAft>
              <a:defRPr sz="1300" b="0">
                <a:solidFill>
                  <a:srgbClr val="BAC2DE"/>
                </a:solidFill>
              </a:defRPr>
            </a:pPr>
            <a:r>
              <a:t>① clang -E 预处理源码 → 展开后的 .pp.cc 文件</a:t>
            </a:r>
          </a:p>
          <a:p>
            <a:pPr>
              <a:spcAft>
                <a:spcPts val="300"/>
              </a:spcAft>
              <a:defRPr sz="1300" b="0">
                <a:solidFill>
                  <a:srgbClr val="BAC2DE"/>
                </a:solidFill>
              </a:defRPr>
            </a:pPr>
            <a:r>
              <a:t>② 注入 unsafe_pmf_cast&lt;To,From&gt; 模板（基于 union 类型双关）</a:t>
            </a:r>
          </a:p>
          <a:p>
            <a:pPr>
              <a:spcAft>
                <a:spcPts val="300"/>
              </a:spcAft>
              <a:defRPr sz="1300" b="0">
                <a:solidFill>
                  <a:srgbClr val="BAC2DE"/>
                </a:solidFill>
              </a:defRPr>
            </a:pPr>
            <a:r>
              <a:t>③ 正则替换所有 PMF 强转为 unsafe_pmf_cast 调用：</a:t>
            </a:r>
          </a:p>
          <a:p>
            <a:pPr>
              <a:spcAft>
                <a:spcPts val="300"/>
              </a:spcAft>
              <a:defRPr sz="1200" b="0">
                <a:solidFill>
                  <a:srgbClr val="A6E3A1"/>
                </a:solidFill>
              </a:defRPr>
            </a:pPr>
            <a:r>
              <a:t>   (void(*)(Node*))&amp;Node::xx → unsafe_pmf_cast&lt;void(*)(Node*)&gt;(&amp;Node::xx)</a:t>
            </a:r>
          </a:p>
          <a:p>
            <a:pPr>
              <a:spcAft>
                <a:spcPts val="300"/>
              </a:spcAft>
              <a:defRPr sz="1300" b="0">
                <a:solidFill>
                  <a:srgbClr val="BAC2DE"/>
                </a:solidFill>
              </a:defRPr>
            </a:pPr>
            <a:r>
              <a:t>④ 编译修改后的预处理文件，清理临时文件</a:t>
            </a:r>
          </a:p>
          <a:p>
            <a:pPr>
              <a:spcAft>
                <a:spcPts val="300"/>
              </a:spcAft>
              <a:defRPr sz="1300" b="0">
                <a:solidFill>
                  <a:srgbClr val="BAC2DE"/>
                </a:solidFill>
              </a:defRPr>
            </a:pPr>
            <a:r>
              <a:t>⑤ 仅在 platform.system()=='Darwin' 时触发，不影响 Linux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760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6C7086"/>
                </a:solidFill>
              </a:defRPr>
            </a:pPr>
            <a:r>
              <a:t>修改文件：site-packages/jittor/compiler.py 第1363-1389行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PyTorch vs 计图 — 代码移植对比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89B4FA"/>
                </a:solidFill>
              </a:defRPr>
            </a:pPr>
            <a:r>
              <a:t>从 PyTorch 移植到 Jittor 的关键 API 差异与适配方案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" y="1051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改动项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38BA8"/>
                </a:solidFill>
              </a:defRPr>
            </a:pPr>
            <a:r>
              <a:t>PyTorch 原始写法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0515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6E3A1"/>
                </a:solidFill>
              </a:defRPr>
            </a:pPr>
            <a:r>
              <a:t>Jittor 适配写法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051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FFFF"/>
                </a:solidFill>
              </a:defRPr>
            </a:pPr>
            <a:r>
              <a:t>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13716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模型前向传播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371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forward(self, x)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3716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execute(self, 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3716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Jittor 约定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" y="175564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权重归一化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75564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nn.utils.weight_norm()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175564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手写 WeightNormLinear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175564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Jittor 无内置，手动 g·v/‖v‖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" y="213969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线性层计算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13969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F.linear(x, w,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13969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matmul_transpose(x,w)+b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13969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矩阵转置乘法替代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" y="252374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反向传播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5237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loss.backward()</a:t>
            </a:r>
            <a:br/>
            <a:r>
              <a:t>optimizer.step()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252374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optimizer.step(loss)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252374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一步完成自动微分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" y="290779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冻结参数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29077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requires_grad_(False)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290779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v.stop_grad()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90779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梯度阻断方式不同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" y="32918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数据集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2918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torch.utils.data.Dataset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29184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jt.dataset.Dataset</a:t>
            </a:r>
            <a:br/>
            <a:r>
              <a:t>+ set_attrs()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291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内置 DataLoader 功能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" y="36758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图像归一化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367588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transforms.Normalize()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367588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jt.transform.ImageNormalize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3675888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API 名称不同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" y="405993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随机种子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05993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torch.manual_seed()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405993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jt.set_global_seed()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0" y="4059936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统一全局随机种子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" y="444398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设备管理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4480" y="444398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cuda / mps / cpu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06240" y="4443984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自动管理（仅CPU/CUDA）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4443984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不支持 MPS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" y="48280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9E2AF"/>
                </a:solidFill>
              </a:defRPr>
            </a:pPr>
            <a:r>
              <a:t>检查点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54480" y="48280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F38BA8"/>
                </a:solidFill>
              </a:defRPr>
            </a:pPr>
            <a:r>
              <a:t>.pth (torch.save)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06240" y="4828032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A6E3A1"/>
                </a:solidFill>
              </a:defRPr>
            </a:pPr>
            <a:r>
              <a:t>.pkl + load_pytorch_weights()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828032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C7086"/>
                </a:solidFill>
              </a:defRPr>
            </a:pPr>
            <a:r>
              <a:t>可桥接加载 PyTorch 权重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