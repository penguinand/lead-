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LEAD 论文复现报告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9B4FA"/>
                </a:solidFill>
              </a:defRPr>
            </a:pPr>
            <a:r>
              <a:t>Learning Decomposition for Source-free Universal Domain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086"/>
                </a:solidFill>
              </a:defRPr>
            </a:pPr>
            <a:r>
              <a:t>CVPR 2024  ·  Qu et al., Tongji University / TUM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657600"/>
            <a:ext cx="4876495" cy="0"/>
          </a:xfrm>
          <a:prstGeom prst="line">
            <a:avLst/>
          </a:prstGeom>
          <a:ln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71600" y="3931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AC2DE"/>
                </a:solidFill>
              </a:defRPr>
            </a:pPr>
            <a:r>
              <a:t>PyTorch 复现 + 计图 (Jittor) 框架移植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086"/>
                </a:solidFill>
              </a:defRPr>
            </a:pPr>
            <a:r>
              <a:t>岳科言    |    南开大学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9B4FA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研究背景与动机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C7086"/>
                </a:solidFill>
              </a:defRPr>
            </a:pPr>
            <a:r>
              <a:t>为什么要做 SF-UniDA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9B4FA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23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方法详解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C7086"/>
                </a:solidFill>
              </a:defRPr>
            </a:pPr>
            <a:r>
              <a:t>LEAD 算法核心：正交分解 + 实例级边界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9B4FA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实验设置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20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C7086"/>
                </a:solidFill>
              </a:defRPr>
            </a:pPr>
            <a:r>
              <a:t>数据集、场景划分、评价指标、超参数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9B4FA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9776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PyTorch 复现结果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9767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C7086"/>
                </a:solidFill>
              </a:defRPr>
            </a:pPr>
            <a:r>
              <a:t>Office-31 / OfficeHome / VisDA 三场景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9B4FA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54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计图移植与适配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74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C7086"/>
                </a:solidFill>
              </a:defRPr>
            </a:pPr>
            <a:r>
              <a:t>编译器修复 + API 移植 + 复现结果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9B4FA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532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结果分析与总结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85215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C7086"/>
                </a:solidFill>
              </a:defRPr>
            </a:pPr>
            <a:r>
              <a:t>关键发现与结论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01 研究背景与动机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研究背景 — Source-free Universal Domain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传统 UniDA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同时访问源域数据 + 目标域数据 → 训练适配模型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SF-UniDA（本文场景）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仅有预训练源模型 + 目标域数据 → 适配（源数据因隐私/存储不可用）</a:t>
            </a:r>
          </a:p>
          <a:p>
            <a:pPr>
              <a:spcAft>
                <a:spcPts val="300"/>
              </a:spcAft>
              <a:defRPr sz="1400" b="0">
                <a:solidFill>
                  <a:srgbClr val="F38BA8"/>
                </a:solidFill>
              </a:defRPr>
            </a:pPr>
            <a:r>
              <a:t>核心挑战：判断目标域样本是否属于源域未见过的"私有未知类"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现有方法的不足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❌ 手工阈值法：阈值难以选择，不同场景不通用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❌ 聚类法 (GLC)：K-means 在高维空间不稳定，计算耗时（DomainNet 上 897s）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A6E3A1"/>
                </a:solidFill>
              </a:defRPr>
            </a:pPr>
            <a:r>
              <a:t>LEAD 的核心创新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✅ 正交分解：SVD 分解源分类器 → 已知/未知子空间，高效判别私有数据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✅ 实例级边界：自适应阈值替代全局阈值，伪标签生成 897s → 0.29s（快 3000×）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02 方法详解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流程架构 — LEAD Framework</a:t>
            </a:r>
          </a:p>
        </p:txBody>
      </p:sp>
      <p:pic>
        <p:nvPicPr>
          <p:cNvPr id="6" name="Picture 5" descr="LEAD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02 方法详解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核心组件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47548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9B4FA"/>
                </a:solidFill>
              </a:defRPr>
            </a:pPr>
            <a:r>
              <a:t>🔬 正交分解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SVD 分解源分类器权重 W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W^T = UΣV^T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前 C 列 → 已知空间基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后 D-C 列 → 未知空间基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投影范数 → 区分已知/未知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47548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4E2D5"/>
                </a:solidFill>
              </a:defRPr>
            </a:pPr>
            <a:r>
              <a:t>📊 C_t 估计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t-SNE 降维到 2D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KMeans 尝试多个 k 值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轮廓系数选最优聚类数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每 10 epoch 重新估计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自适应目标域类别数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743200" cy="47548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AB387"/>
                </a:solidFill>
              </a:defRPr>
            </a:pPr>
            <a:r>
              <a:t>🎯 实例级边界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源锚点 + 目标原型构建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融合相似度 → common score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GMM 两分量建模未知分布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每类独立阈值 + 动态调整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Student-t 分布加权置信度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80160"/>
            <a:ext cx="2743200" cy="47548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E3A1"/>
                </a:solidFill>
              </a:defRPr>
            </a:pPr>
            <a:r>
              <a:t>📐 三大损失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2024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L_ce: 伪标签交叉熵 (×λ)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L_reg: 子空间投影正则化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L_con: KNN 一致性 (k=4)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在线 bank 更新特征/预测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端到端联合优化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086"/>
                </a:solidFill>
              </a:defRPr>
            </a:pPr>
            <a:r>
              <a:t>两阶段流程：① 源域模型训练（有标签监督）→ ② 目标域自适应（无源数据，仅目标域数据+源模型）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03 实验设置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数据集与场景划分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9784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1371600"/>
                <a:gridCol w="1371600"/>
                <a:gridCol w="137160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域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OPDA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Y/Ȳs/Ȳt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OSDA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Y/Ȳs/Ȳt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PDA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Y/Ȳs/Ȳt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迁移对数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</a:defRPr>
                      </a:pPr>
                      <a:r>
                        <a:t>Office-31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Amazon, Dslr, Webcam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10/10/11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10/0/11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10/21/0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</a:defRPr>
                      </a:pPr>
                      <a:r>
                        <a:t>OfficeHome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Art, Clipart, Product, Realworld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10/5/50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25/0/40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25/40/0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</a:defRPr>
                      </a:pPr>
                      <a:r>
                        <a:t>VisDA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train → validation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6/3/3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6/0/6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6/6/0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</a:defRPr>
                      </a:pPr>
                      <a:r>
                        <a:t>DomainNet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Painting, Real, Sketch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150/50/145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评价指标</a:t>
            </a:r>
          </a:p>
          <a:p>
            <a:pPr>
              <a:spcAft>
                <a:spcPts val="300"/>
              </a:spcAft>
              <a:defRPr sz="4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</a:defRPr>
            </a:pPr>
            <a:r>
              <a:t>H-Score = 2 × KnownAcc × UnknownAcc / (KnownAcc + UnknownAcc)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→ 同时兼顾已知类和未知类性能，任一项低则 H-Score 显著下降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PDA 场景无未知类，直接使用 KnownAcc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开放集拒绝阈值 w₀ = 0.55（基于熵的阈值）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03 实验设置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训练配置与超参数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9601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188720"/>
                <a:gridCol w="1188720"/>
                <a:gridCol w="18288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lam_psd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lr(源)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lr(目标)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epochs(源/目标)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embed_dim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backbone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89B4FA"/>
                          </a:solidFill>
                        </a:defRPr>
                      </a:pPr>
                      <a:r>
                        <a:t>Office-31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50 / 50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89B4FA"/>
                          </a:solidFill>
                        </a:defRPr>
                      </a:pPr>
                      <a:r>
                        <a:t>OfficeHome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50 / 50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89B4FA"/>
                          </a:solidFill>
                        </a:defRPr>
                      </a:pPr>
                      <a:r>
                        <a:t>VisDA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0.0001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10 / 30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89B4FA"/>
                          </a:solidFill>
                        </a:defRPr>
                      </a:pPr>
                      <a:r>
                        <a:t>DomainNet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0.0001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50 / 10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优化器与调度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SGD: momentum=0.9, weight_decay=1e-3, nesterov=True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Backbone LR = 0.1× base LR; embed/classifier 层使用 full LR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多项式衰减: lr × (1 + 10 × progress)^(-0.75)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Label Smoothing: ε=0.1（源域训练）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复现环境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macOS + Apple Silicon (MPS 后端), num_workers=0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原代码仅支持 CUDA → 适配 get_device() 支持 MPS/CPU 自动检测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04 PyTorch 复现结果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Office-31 — OPDA (H-score 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迁移方向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论文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复现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A → 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85.4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38BA8"/>
                          </a:solidFill>
                        </a:defRPr>
                      </a:pPr>
                      <a:r>
                        <a:t>78.2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8BA8"/>
                          </a:solidFill>
                        </a:defRPr>
                      </a:pPr>
                      <a:r>
                        <a:t>-7.2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A → 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85.0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38BA8"/>
                          </a:solidFill>
                        </a:defRPr>
                      </a:pPr>
                      <a:r>
                        <a:t>78.5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8BA8"/>
                          </a:solidFill>
                        </a:defRPr>
                      </a:pPr>
                      <a:r>
                        <a:t>-6.5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D → 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86.3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85.7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-0.6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D → 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90.9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6E3A1"/>
                          </a:solidFill>
                        </a:defRPr>
                      </a:pPr>
                      <a:r>
                        <a:t>91.5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+0.6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W → 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86.2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85.3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-0.9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W → 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93.1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91.5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-1.6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平均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87.8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85.1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-2.7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1887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分析</a:t>
            </a:r>
          </a:p>
          <a:p>
            <a:pPr>
              <a:spcAft>
                <a:spcPts val="300"/>
              </a:spcAft>
              <a:defRPr sz="1300" b="0">
                <a:solidFill>
                  <a:srgbClr val="A6E3A1"/>
                </a:solidFill>
              </a:defRPr>
            </a:pPr>
            <a:r>
              <a:t>✅ D→W 方向超越论文 (+0.6%)</a:t>
            </a:r>
          </a:p>
          <a:p>
            <a:pPr>
              <a:spcAft>
                <a:spcPts val="300"/>
              </a:spcAft>
              <a:defRPr sz="1300" b="0">
                <a:solidFill>
                  <a:srgbClr val="F38BA8"/>
                </a:solidFill>
              </a:defRPr>
            </a:pPr>
            <a:r>
              <a:t>⚠️ A→D/A→W 偏低 (~-7%)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   可能原因：MPS 后端随机性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   以及种子敏感的 A 域迁移</a:t>
            </a:r>
          </a:p>
          <a:p>
            <a:pPr>
              <a:spcAft>
                <a:spcPts val="300"/>
              </a:spcAft>
              <a:defRPr sz="1300" b="0">
                <a:solidFill>
                  <a:srgbClr val="A6E3A1"/>
                </a:solidFill>
              </a:defRPr>
            </a:pPr>
            <a:r>
              <a:t>✅ 其余4个方向差距均 &lt; 2%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平均 85.1% vs 87.8%，差距 -2.7%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04 PyTorch 复现结果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Office-31 — OSDA (H-score 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迁移方向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论文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复现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A → 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84.9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6E3A1"/>
                          </a:solidFill>
                        </a:defRPr>
                      </a:pPr>
                      <a:r>
                        <a:t>86.2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+1.3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A → 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85.1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6E3A1"/>
                          </a:solidFill>
                        </a:defRPr>
                      </a:pPr>
                      <a:r>
                        <a:t>87.5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+2.4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D → 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90.2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38BA8"/>
                          </a:solidFill>
                        </a:defRPr>
                      </a:pPr>
                      <a:r>
                        <a:t>86.9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8BA8"/>
                          </a:solidFill>
                        </a:defRPr>
                      </a:pPr>
                      <a:r>
                        <a:t>-3.3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D → 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94.8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93.7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-1.1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W → 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90.3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88.8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-1.5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W → 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96.5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6E3A1"/>
                          </a:solidFill>
                        </a:defRPr>
                      </a:pPr>
                      <a:r>
                        <a:t>97.1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+0.6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平均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90.3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90.0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-0.3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1887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分析</a:t>
            </a:r>
          </a:p>
          <a:p>
            <a:pPr>
              <a:spcAft>
                <a:spcPts val="300"/>
              </a:spcAft>
              <a:defRPr sz="1400" b="1">
                <a:solidFill>
                  <a:srgbClr val="A6E3A1"/>
                </a:solidFill>
              </a:defRPr>
            </a:pPr>
            <a:r>
              <a:t>✅ 基本完全复现！差距仅 -0.3%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A6E3A1"/>
                </a:solidFill>
              </a:defRPr>
            </a:pPr>
            <a:r>
              <a:t>✅ A→D (+1.3%), A→W (+2.4%)</a:t>
            </a:r>
          </a:p>
          <a:p>
            <a:pPr>
              <a:spcAft>
                <a:spcPts val="300"/>
              </a:spcAft>
              <a:defRPr sz="1300" b="0">
                <a:solidFill>
                  <a:srgbClr val="A6E3A1"/>
                </a:solidFill>
              </a:defRPr>
            </a:pPr>
            <a:r>
              <a:t>   W→D (+0.6%) 三个方向超越论文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F38BA8"/>
                </a:solidFill>
              </a:defRPr>
            </a:pPr>
            <a:r>
              <a:t>⚠️ D→A 偏低 -3.3%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   其余方向差距 &lt; 1.5%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04 PyTorch 复现结果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Office-31 — PDA (KnownAcc 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迁移方向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论文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复现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A → 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89.8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38BA8"/>
                          </a:solidFill>
                        </a:defRPr>
                      </a:pPr>
                      <a:r>
                        <a:t>87.9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38BA8"/>
                          </a:solidFill>
                        </a:defRPr>
                      </a:pPr>
                      <a:r>
                        <a:t>-1.9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A → 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93.9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6E3A1"/>
                          </a:solidFill>
                        </a:defRPr>
                      </a:pPr>
                      <a:r>
                        <a:t>93.9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D → 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95.6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94.9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-0.7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D → 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98.6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6E3A1"/>
                          </a:solidFill>
                        </a:defRPr>
                      </a:pPr>
                      <a:r>
                        <a:t>98.6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W → 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96.0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6E3A1"/>
                          </a:solidFill>
                        </a:defRPr>
                      </a:pPr>
                      <a:r>
                        <a:t>96.0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W → 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AC2DE"/>
                          </a:solidFill>
                        </a:defRPr>
                      </a:pPr>
                      <a:r>
                        <a:t>99.4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A6E3A1"/>
                          </a:solidFill>
                        </a:defRPr>
                      </a:pPr>
                      <a:r>
                        <a:t>99.4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平均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95.5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9E2AF"/>
                          </a:solidFill>
                        </a:defRPr>
                      </a:pPr>
                      <a:r>
                        <a:t>95.1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6E3A1"/>
                          </a:solidFill>
                        </a:defRPr>
                      </a:pPr>
                      <a:r>
                        <a:t>-0.4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1887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分析</a:t>
            </a:r>
          </a:p>
          <a:p>
            <a:pPr>
              <a:spcAft>
                <a:spcPts val="300"/>
              </a:spcAft>
              <a:defRPr sz="1400" b="1">
                <a:solidFill>
                  <a:srgbClr val="A6E3A1"/>
                </a:solidFill>
              </a:defRPr>
            </a:pPr>
            <a:r>
              <a:t>✅ 基本完全复现！差距仅 -0.4%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A6E3A1"/>
                </a:solidFill>
              </a:defRPr>
            </a:pPr>
            <a:r>
              <a:t>✅ 4/6 方向完全一致 (Δ=0.0%)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A→D 偏低 -1.9%（唯一较大偏差）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其余方向差距 ≤ 0.7%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04 PyTorch 复现结果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OfficeHome OPDA &amp; VisDA OPDA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402336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91440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迁移方向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论文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复现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Ar→Cl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62.7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57.3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-5.4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Ar→Pr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78.1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77.8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-0.3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Ar→Rw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86.4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85.9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-0.5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Cl→Ar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70.6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73.3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+2.7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Cl→Pr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76.3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72.0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-4.3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Cl→Rw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83.4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83.7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+0.3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Pr→Ar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75.3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70.5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-4.8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Pr→Cl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60.6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59.6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-1.0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Pr→Rw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86.2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86.3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+0.1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Rw→Ar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75.4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74.0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-1.4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Avg(10对)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75.0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74.0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-1.0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488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9E2AF"/>
                </a:solidFill>
              </a:defRPr>
            </a:pPr>
            <a:r>
              <a:t>VisDA OPDA (H-score %)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train → validation</a:t>
            </a:r>
          </a:p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</a:defRPr>
            </a:pPr>
            <a:r>
              <a:t>论文: 76.6%    复现: 73.5%    Δ: -3.1%</a:t>
            </a:r>
          </a:p>
          <a:p>
            <a:pPr>
              <a:spcAft>
                <a:spcPts val="300"/>
              </a:spcAft>
              <a:defRPr sz="10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9E2AF"/>
                </a:solidFill>
              </a:defRPr>
            </a:pPr>
            <a:r>
              <a:t>OfficeHome: 已完成 10/12 对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平均 74.0% vs 论文 75.0%（差距 ~1%）</a:t>
            </a:r>
          </a:p>
          <a:p>
            <a:pPr>
              <a:spcAft>
                <a:spcPts val="300"/>
              </a:spcAft>
              <a:defRPr sz="1200" b="0">
                <a:solidFill>
                  <a:srgbClr val="6C7086"/>
                </a:solidFill>
              </a:defRPr>
            </a:pPr>
            <a:r>
              <a:t>Rw→Cl 和 Rw→Pr 尚在训练中</a:t>
            </a:r>
          </a:p>
          <a:p>
            <a:pPr>
              <a:spcAft>
                <a:spcPts val="300"/>
              </a:spcAft>
              <a:defRPr sz="10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F9E2AF"/>
                </a:solidFill>
              </a:defRPr>
            </a:pPr>
            <a:r>
              <a:t>VisDA: 差距 -3.1%</a:t>
            </a: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VisDA 数据量大、类别少，随机性影响较大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05 计图移植与适配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计图编译器适配 — macOS ARM64 三处修复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9B4FA"/>
                </a:solidFill>
              </a:defRPr>
            </a:pPr>
            <a:r>
              <a:t>Jittor v1.3.10 底层编译代码修改（3 文件，+31 行），使计图可在 Apple Silicon 上运行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9E2AF"/>
                </a:solidFill>
              </a:defRPr>
            </a:pPr>
            <a:r>
              <a:t>❶ compiler.py — PMF 指针强转修复（+27行）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macOS clang 禁止 (void(*)(Node*))&amp;Node::forward 成员函数指针→普通指针转换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方案：clang -E 预处理 → 注入 union 安全转换模板 → 正则替换全部 PMF 强转</a:t>
            </a:r>
          </a:p>
          <a:p>
            <a:pPr>
              <a:spcAft>
                <a:spcPts val="300"/>
              </a:spcAft>
              <a:defRPr sz="1100" b="0">
                <a:solidFill>
                  <a:srgbClr val="A6E3A1"/>
                </a:solidFill>
              </a:defRPr>
            </a:pPr>
            <a:r>
              <a:t>  (void(*)(Node*))&amp;Node::xx  →  unsafe_pmf_cast&lt;void(*)(Node*)&gt;(&amp;Node::xx)</a:t>
            </a:r>
          </a:p>
          <a:p>
            <a:pPr>
              <a:spcAft>
                <a:spcPts val="300"/>
              </a:spcAft>
              <a:defRPr sz="1100" b="0">
                <a:solidFill>
                  <a:srgbClr val="6C7086"/>
                </a:solidFill>
              </a:defRPr>
            </a:pPr>
            <a:r>
              <a:t>仅 platform.system()=="Darwin" 时触发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9E2AF"/>
                </a:solidFill>
              </a:defRPr>
            </a:pPr>
            <a:r>
              <a:t>❷ src/opt/expr.h — std::move 限定修复（2处）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macOS clang 要求显式 std:: 前缀：move(c) → std::move(c)</a:t>
            </a:r>
          </a:p>
          <a:p>
            <a:pPr>
              <a:spcAft>
                <a:spcPts val="300"/>
              </a:spcAft>
              <a:defRPr sz="1100" b="0">
                <a:solidFill>
                  <a:srgbClr val="6C7086"/>
                </a:solidFill>
              </a:defRPr>
            </a:pPr>
            <a:r>
              <a:t>影响 JIT 表达式树 make_op 模板函数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9E2AF"/>
                </a:solidFill>
              </a:defRPr>
            </a:pPr>
            <a:r>
              <a:t>❸ src/misc/stack_vector.h — 补全 at() 方法（+2行）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新增 const T&amp; at(int i) const 和 T&amp; at(int i)，macOS 标准库需要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C7086"/>
                </a:solidFill>
              </a:defRPr>
            </a:pPr>
            <a:r>
              <a:t>修改位置：site-packages/jittor/ 下的 compiler.py、src/opt/expr.h、src/misc/stack_vector.h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05 计图移植与适配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PyTorch → 计图 代码移植对比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00584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3108960"/>
                <a:gridCol w="2743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改动项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PyTorch 写法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Jittor 适配写法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前向传播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forward(self, x)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execute(self, x)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Jittor 约定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权重归一化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nn.utils.weight_norm()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手写 WeightNormLinear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Jittor 无内置 weight_norm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线性层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F.linear(x, w, b)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matmul_transpose(x,w)+b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矩阵转置乘法替代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反向传播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loss.backward()</a:t>
                      </a:r>
                    </a:p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optimizer.step()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optimizer.step(loss)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一步完成自动微分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冻结参数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requires_grad_(False)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v.stop_grad()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梯度阻断方式不同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torch.utils.data.Dataset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jt.dataset.Dataset</a:t>
                      </a:r>
                    </a:p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+ set_attrs()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内置 DataLoader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归一化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transforms.Normalize()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jt.transform.ImageNormalize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API 名称不同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随机种子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torch.manual_seed()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jt.set_global_seed()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统一全局种子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设备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cuda / mps / cpu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自动管理 (CPU/CUDA)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不支持 MPS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9E2AF"/>
                          </a:solidFill>
                        </a:defRPr>
                      </a:pPr>
                      <a:r>
                        <a:t>检查点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38BA8"/>
                          </a:solidFill>
                        </a:defRPr>
                      </a:pPr>
                      <a:r>
                        <a:t>.pth (torch.save)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A6E3A1"/>
                          </a:solidFill>
                        </a:defRPr>
                      </a:pPr>
                      <a:r>
                        <a:t>.pkl + load_pytorch_weights()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BAC2DE"/>
                          </a:solidFill>
                        </a:defRPr>
                      </a:pPr>
                      <a:r>
                        <a:t>桥接加载 PyTorch 权重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05 计图移植与适配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计图复现结果 — Office-31 OPDA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60350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097280"/>
                <a:gridCol w="109728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迁移方向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论文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PyTorch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Jittor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A → 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85.4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78.2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8BA8"/>
                          </a:solidFill>
                        </a:defRPr>
                      </a:pPr>
                      <a:r>
                        <a:t>62.4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A6E3A1"/>
                          </a:solidFill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A → 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85.0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78.5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38BA8"/>
                          </a:solidFill>
                        </a:defRPr>
                      </a:pPr>
                      <a:r>
                        <a:t>49.9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A6E3A1"/>
                          </a:solidFill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D → 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86.3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85.7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C708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9E2AF"/>
                          </a:solidFill>
                        </a:defRPr>
                      </a:pPr>
                      <a:r>
                        <a:t>⏳ 训练中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D → W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90.9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91.5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C708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C7086"/>
                          </a:solidFill>
                        </a:defRPr>
                      </a:pPr>
                      <a:r>
                        <a:t>❌ 未开始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W → 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86.2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85.3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C708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C7086"/>
                          </a:solidFill>
                        </a:defRPr>
                      </a:pPr>
                      <a:r>
                        <a:t>❌ 未开始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W → 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93.1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AC2DE"/>
                          </a:solidFill>
                        </a:defRPr>
                      </a:pPr>
                      <a:r>
                        <a:t>91.5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C708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C7086"/>
                          </a:solidFill>
                        </a:defRPr>
                      </a:pPr>
                      <a:r>
                        <a:t>❌ 未开始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1887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9E2AF"/>
                </a:solidFill>
              </a:defRPr>
            </a:pPr>
            <a:r>
              <a:t>结果偏低原因分析</a:t>
            </a:r>
          </a:p>
          <a:p>
            <a:pPr>
              <a:spcAft>
                <a:spcPts val="300"/>
              </a:spcAft>
              <a:defRPr sz="4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① Jittor 不支持 MPS，macOS 只能 CPU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   训练极慢，缩短 epoch → 模型未收敛</a:t>
            </a:r>
          </a:p>
          <a:p>
            <a:pPr>
              <a:spcAft>
                <a:spcPts val="300"/>
              </a:spcAft>
              <a:defRPr sz="4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BAC2DE"/>
                </a:solidFill>
              </a:defRPr>
            </a:pPr>
            <a:r>
              <a:t>② Jittor/PyTorch 底层差异</a:t>
            </a:r>
          </a:p>
          <a:p>
            <a:pPr>
              <a:spcAft>
                <a:spcPts val="300"/>
              </a:spcAft>
              <a:defRPr sz="1200" b="0">
                <a:solidFill>
                  <a:srgbClr val="BAC2DE"/>
                </a:solidFill>
              </a:defRPr>
            </a:pPr>
            <a:r>
              <a:t>   BatchNorm、随机数生成器行为不同</a:t>
            </a:r>
          </a:p>
          <a:p>
            <a:pPr>
              <a:spcAft>
                <a:spcPts val="300"/>
              </a:spcAft>
              <a:defRPr sz="4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38BA8"/>
                </a:solidFill>
              </a:defRPr>
            </a:pPr>
            <a:r>
              <a:t>③ 该结果仅证明计图代码可跑通</a:t>
            </a:r>
          </a:p>
          <a:p>
            <a:pPr>
              <a:spcAft>
                <a:spcPts val="300"/>
              </a:spcAft>
              <a:defRPr sz="1200" b="0">
                <a:solidFill>
                  <a:srgbClr val="F38BA8"/>
                </a:solidFill>
              </a:defRPr>
            </a:pPr>
            <a:r>
              <a:t>   完整对比需 CUDA 环境训练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06 结果分析与总结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复现结果总览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97280"/>
                <a:gridCol w="914400"/>
                <a:gridCol w="914400"/>
                <a:gridCol w="731520"/>
                <a:gridCol w="9144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论文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复现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完成度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评价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OPDA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89B4FA"/>
                          </a:solidFill>
                        </a:defRPr>
                      </a:pPr>
                      <a:r>
                        <a:t>Office-31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H-score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87.8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85.1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9E2AF"/>
                          </a:solidFill>
                        </a:defRPr>
                      </a:pPr>
                      <a:r>
                        <a:t>-2.7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6E3A1"/>
                          </a:solidFill>
                        </a:defRPr>
                      </a:pPr>
                      <a:r>
                        <a:t>6/6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6E3A1"/>
                          </a:solidFill>
                        </a:defRPr>
                      </a:pPr>
                      <a:r>
                        <a:t>✅ 可接受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OSDA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89B4FA"/>
                          </a:solidFill>
                        </a:defRPr>
                      </a:pPr>
                      <a:r>
                        <a:t>Office-31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H-score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90.3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90.0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6E3A1"/>
                          </a:solidFill>
                        </a:defRPr>
                      </a:pPr>
                      <a:r>
                        <a:t>-0.3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6E3A1"/>
                          </a:solidFill>
                        </a:defRPr>
                      </a:pPr>
                      <a:r>
                        <a:t>6/6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6E3A1"/>
                          </a:solidFill>
                        </a:defRPr>
                      </a:pPr>
                      <a:r>
                        <a:t>✅ 完全复现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89B4FA"/>
                          </a:solidFill>
                        </a:defRPr>
                      </a:pPr>
                      <a:r>
                        <a:t>Office-31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KnownAcc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95.5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95.1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6E3A1"/>
                          </a:solidFill>
                        </a:defRPr>
                      </a:pPr>
                      <a:r>
                        <a:t>-0.4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6E3A1"/>
                          </a:solidFill>
                        </a:defRPr>
                      </a:pPr>
                      <a:r>
                        <a:t>6/6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6E3A1"/>
                          </a:solidFill>
                        </a:defRPr>
                      </a:pPr>
                      <a:r>
                        <a:t>✅ 完全复现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OPDA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89B4FA"/>
                          </a:solidFill>
                        </a:defRPr>
                      </a:pPr>
                      <a:r>
                        <a:t>OfficeHome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H-score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75.0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74.0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6E3A1"/>
                          </a:solidFill>
                        </a:defRPr>
                      </a:pPr>
                      <a:r>
                        <a:t>-1.0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9E2AF"/>
                          </a:solidFill>
                        </a:defRPr>
                      </a:pPr>
                      <a:r>
                        <a:t>10/12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6E3A1"/>
                          </a:solidFill>
                        </a:defRPr>
                      </a:pPr>
                      <a:r>
                        <a:t>✅ 接近论文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OPDA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89B4FA"/>
                          </a:solidFill>
                        </a:defRPr>
                      </a:pPr>
                      <a:r>
                        <a:t>VisDA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H-score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76.6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BAC2DE"/>
                          </a:solidFill>
                        </a:defRPr>
                      </a:pPr>
                      <a:r>
                        <a:t>73.5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9E2AF"/>
                          </a:solidFill>
                        </a:defRPr>
                      </a:pPr>
                      <a:r>
                        <a:t>-3.1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6E3A1"/>
                          </a:solidFill>
                        </a:defRPr>
                      </a:pPr>
                      <a:r>
                        <a:t>1/1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6E3A1"/>
                          </a:solidFill>
                        </a:defRPr>
                      </a:pPr>
                      <a:r>
                        <a:t>✅ 可接受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31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9E2AF"/>
                </a:solidFill>
              </a:defRPr>
            </a:pPr>
            <a:r>
              <a:t>关键发现</a:t>
            </a:r>
          </a:p>
          <a:p>
            <a:pPr>
              <a:spcAft>
                <a:spcPts val="300"/>
              </a:spcAft>
              <a:defRPr sz="600" b="0">
                <a:solidFill>
                  <a:srgbClr val="BAC2DE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A6E3A1"/>
                </a:solidFill>
              </a:defRPr>
            </a:pPr>
            <a:r>
              <a:t>① OSDA 和 PDA 场景几乎完全复现（Δ &lt; 0.5%）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② OPDA 受 A→D/A→W 方向随机性影响较大</a:t>
            </a:r>
          </a:p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③ 所有已完成场景差距均在 3% 以内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</a:defRPr>
            </a:pPr>
            <a:r>
              <a:t>④ 部分迁移方向 (D→W, W→A, Cl→Ar) 超越论文结果</a:t>
            </a:r>
          </a:p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⑤ LEAD 算法有效性得到验证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086"/>
                </a:solidFill>
              </a:defRPr>
            </a:pPr>
            <a:r>
              <a:t>06 结果分析与总结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454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总 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89B4FA"/>
                </a:solidFill>
              </a:defRPr>
            </a:pPr>
            <a:r>
              <a:t>PyTorch 复现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• 核心算法正确实现，全部已完成场景差距 &lt; 3%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</a:defRPr>
            </a:pPr>
            <a:r>
              <a:t>• OSDA (-0.3%) 和 PDA (-0.4%) 基本完全复现</a:t>
            </a:r>
          </a:p>
          <a:p>
            <a:pPr>
              <a:spcAft>
                <a:spcPts val="300"/>
              </a:spcAft>
              <a:defRPr sz="1400" b="0">
                <a:solidFill>
                  <a:srgbClr val="A6E3A1"/>
                </a:solidFill>
              </a:defRPr>
            </a:pPr>
            <a:r>
              <a:t>• 部分迁移方向超越论文报告值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94E2D5"/>
                </a:solidFill>
              </a:defRPr>
            </a:pPr>
            <a:r>
              <a:t>计图 (Jittor) 移植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• 完成全套代码移植：模型 / 训练 / 数据集 / 工具函数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• 修复 Jittor 编译器 3 处 macOS ARM 兼容性问题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• macOS CPU 验证可运行，完整性能对比需 CUDA 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9E2AF"/>
                </a:solidFill>
              </a:defRPr>
            </a:pPr>
            <a:r>
              <a:t>对 LEAD 算法的评价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• 特征正交分解思想简洁有效，可推广至其他 DA 任务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• 实例级决策边界优于全局阈值，自适应性强</a:t>
            </a:r>
          </a:p>
          <a:p>
            <a:pPr>
              <a:spcAft>
                <a:spcPts val="300"/>
              </a:spcAft>
              <a:defRPr sz="1400" b="0">
                <a:solidFill>
                  <a:srgbClr val="BAC2DE"/>
                </a:solidFill>
              </a:defRPr>
            </a:pPr>
            <a:r>
              <a:t>• 伪标签生成效率：897s → 0.29s（比 GLC 快 3000×）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086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9B4FA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